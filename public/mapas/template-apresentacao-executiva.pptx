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53312" y="8412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NARRATIVAS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40080" y="17373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 de Estruturas para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Apresentações de Alto Impacto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36118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frameworks prontos para estruturar qualquer fala — do pitch executivo ao vídeo de vendas. Cada um vem com o passo a passo, perguntas-guia e exemplos para você preencher.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4983480"/>
            <a:ext cx="1977481" cy="868680"/>
          </a:xfrm>
          <a:prstGeom prst="roundRect">
            <a:avLst>
              <a:gd name="adj" fmla="val 9474"/>
            </a:avLst>
          </a:prstGeom>
          <a:solidFill>
            <a:srgbClr val="1B2747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093208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3232" y="5458968"/>
            <a:ext cx="18311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· Complicação · Resolução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2873593" y="4983480"/>
            <a:ext cx="1977481" cy="868680"/>
          </a:xfrm>
          <a:prstGeom prst="roundRect">
            <a:avLst>
              <a:gd name="adj" fmla="val 9474"/>
            </a:avLst>
          </a:prstGeom>
          <a:solidFill>
            <a:srgbClr val="1B2747"/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73593" y="5093208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946745" y="5458968"/>
            <a:ext cx="18311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Previsões · Recomendações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5107107" y="4983480"/>
            <a:ext cx="1977481" cy="868680"/>
          </a:xfrm>
          <a:prstGeom prst="roundRect">
            <a:avLst>
              <a:gd name="adj" fmla="val 9474"/>
            </a:avLst>
          </a:prstGeom>
          <a:solidFill>
            <a:srgbClr val="1B2747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07107" y="5093208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180259" y="5458968"/>
            <a:ext cx="18311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· Investigação · Solução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7340620" y="4983480"/>
            <a:ext cx="1977481" cy="868680"/>
          </a:xfrm>
          <a:prstGeom prst="roundRect">
            <a:avLst>
              <a:gd name="adj" fmla="val 9474"/>
            </a:avLst>
          </a:prstGeom>
          <a:solidFill>
            <a:srgbClr val="1B2747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40620" y="5093208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ABP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413772" y="5458968"/>
            <a:ext cx="18311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· Depois · Ponte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9574134" y="4983480"/>
            <a:ext cx="1977481" cy="868680"/>
          </a:xfrm>
          <a:prstGeom prst="roundRect">
            <a:avLst>
              <a:gd name="adj" fmla="val 9474"/>
            </a:avLst>
          </a:prstGeom>
          <a:solidFill>
            <a:srgbClr val="1B2747"/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74134" y="5093208"/>
            <a:ext cx="19774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647286" y="5458968"/>
            <a:ext cx="18311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· Problema · Explicação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pelo Trabalho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estrutura usar?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estrutura conduz a audiência por começo, meio e fim. A diferença é o efeito que cada uma cria — escolha pela situação.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841248"/>
          </a:xfrm>
          <a:prstGeom prst="roundRect">
            <a:avLst>
              <a:gd name="adj" fmla="val 7609"/>
            </a:avLst>
          </a:prstGeom>
          <a:solidFill>
            <a:srgbClr val="EEF3FE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48256"/>
            <a:ext cx="1051560" cy="493776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48256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103120" y="20208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· Complicação · Resolução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12280" y="1874520"/>
            <a:ext cx="4556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estratégia quando o público ainda não viu o problema.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10911535" cy="841248"/>
          </a:xfrm>
          <a:prstGeom prst="roundRect">
            <a:avLst>
              <a:gd name="adj" fmla="val 7609"/>
            </a:avLst>
          </a:prstGeom>
          <a:solidFill>
            <a:srgbClr val="E9F6F4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999232"/>
            <a:ext cx="1051560" cy="493776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99232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10312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Previsões · Recomendações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2280" y="2825496"/>
            <a:ext cx="4556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uma análise de dados e recomendar 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776472"/>
            <a:ext cx="10911535" cy="841248"/>
          </a:xfrm>
          <a:prstGeom prst="roundRect">
            <a:avLst>
              <a:gd name="adj" fmla="val 7609"/>
            </a:avLst>
          </a:prstGeom>
          <a:solidFill>
            <a:srgbClr val="FDF3E6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950208"/>
            <a:ext cx="1051560" cy="493776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950208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103120" y="39227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· Investigação · Solução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3776472"/>
            <a:ext cx="4556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um projeto de melhoria com causa-raiz e resultado.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727448"/>
            <a:ext cx="10911535" cy="841248"/>
          </a:xfrm>
          <a:prstGeom prst="roundRect">
            <a:avLst>
              <a:gd name="adj" fmla="val 7609"/>
            </a:avLst>
          </a:prstGeom>
          <a:solidFill>
            <a:srgbClr val="F2ECFE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4901184"/>
            <a:ext cx="1051560" cy="493776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901184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ABP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103120" y="48737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· Depois · Ponte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12280" y="4727448"/>
            <a:ext cx="4556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uma transformação (VSL, página, pitch comercial).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678424"/>
            <a:ext cx="10911535" cy="841248"/>
          </a:xfrm>
          <a:prstGeom prst="roundRect">
            <a:avLst>
              <a:gd name="adj" fmla="val 7609"/>
            </a:avLst>
          </a:prstGeom>
          <a:solidFill>
            <a:srgbClr val="FDECEF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5852160"/>
            <a:ext cx="1051560" cy="493776"/>
          </a:xfrm>
          <a:prstGeom prst="roundRect">
            <a:avLst>
              <a:gd name="adj" fmla="val 11111"/>
            </a:avLst>
          </a:prstGeom>
          <a:solidFill>
            <a:srgbClr val="E11D48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85216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2103120" y="58247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· Problema · Explicação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12280" y="5678424"/>
            <a:ext cx="45564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a conclusão direto a um público executivo e sem tempo.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23160"/>
          </a:xfrm>
          <a:prstGeom prst="rect">
            <a:avLst/>
          </a:prstGeom>
          <a:solidFill>
            <a:srgbClr val="EEF3F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804672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37360" y="841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clássico da McKinsey para convencer decisores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4813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Situação · Complicação · Resolução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 precisa propor uma estratégia ou solução e a audiência ainda não percebeu o problema. Conduz a emoção do estável → tensão → alívio, exatamente como uma boa história.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4178808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50976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Situação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50976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o contexto atual que todos aceitam como verdade.</a:t>
            </a:r>
            <a:endParaRPr lang="en-US" sz="12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54" y="4905756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29658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22266" y="4178808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3"/>
          <p:cNvSpPr/>
          <p:nvPr/>
        </p:nvSpPr>
        <p:spPr>
          <a:xfrm>
            <a:off x="4722266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740554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Complicação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4740554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Introduzir a tensão: o que mudou ou o que está em risco.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333" y="4905756"/>
            <a:ext cx="292608" cy="29260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219237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511845" y="4178808"/>
            <a:ext cx="603504" cy="6035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18"/>
          <p:cNvSpPr/>
          <p:nvPr/>
        </p:nvSpPr>
        <p:spPr>
          <a:xfrm>
            <a:off x="8511845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530133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Resolução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8530133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sua proposta como a saída para a tensão.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· Complicação · Resolução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Situação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Estabelecer o contexto atual que todos aceitam como verdade.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estado atual, livre de polêmica?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fatos e dados a audiência já reconhece?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hoje?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EEF3FE"/>
          </a:solidFill>
          <a:ln w="12700">
            <a:solidFill>
              <a:srgbClr val="2563E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 cenário atual com fatos neutros que ninguém vai contestar. É o terreno comum de onde a história parte.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“Hoje processamos 100% dos pedidos manualmente e a equipe atual dá conta da demanda.”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· Complicação · Resolução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Complicação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Introduzir a tensão: o que mudou ou o que está em risco.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rompe a situação atual?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ameaça ou mudança cria urgência?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se nada for feito?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EEF3FE"/>
          </a:solidFill>
          <a:ln w="12700">
            <a:solidFill>
              <a:srgbClr val="2563E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o problema, a mudança ou a ameaça que desestabiliza a situação. Este é o gancho que prende a atenção.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demanda vai triplicar no próximo trimestre — o processo manual não escala e vira perda de vendas.”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· Complicação · Resolução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Resolução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sua proposta como a saída para a tensão.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sua resposta ao problema?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ela elimina a complicação?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próximo passo concreto?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EEF3FE"/>
          </a:solidFill>
          <a:ln w="12700">
            <a:solidFill>
              <a:srgbClr val="2563E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a solução ou recomendação e como ela resolve a complicação. Feche com um pedido de ação claro.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“Automatizar o fluxo de pedidos absorve o pico, libera a equipe e protege a receita.”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23160"/>
          </a:xfrm>
          <a:prstGeom prst="rect">
            <a:avLst/>
          </a:prstGeom>
          <a:solidFill>
            <a:srgbClr val="E9F6F4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804672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37360" y="841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Para apresentações analíticas e baseadas em dados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4813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· Previsões · Recomendações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 relatórios, reuniões executivas e qualquer apresentação que parta de uma análise. Você mostra o que os dados revelaram, para onde apontam e o que fazer a respeito.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4178808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50976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50976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Revelar o que os dados mostraram — os achados-chave.</a:t>
            </a:r>
            <a:endParaRPr lang="en-US" sz="12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54" y="4905756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29658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22266" y="4178808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3"/>
          <p:cNvSpPr/>
          <p:nvPr/>
        </p:nvSpPr>
        <p:spPr>
          <a:xfrm>
            <a:off x="4722266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740554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Previsões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4740554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para onde os achados apontam no futuro.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333" y="4905756"/>
            <a:ext cx="292608" cy="29260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219237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511845" y="4178808"/>
            <a:ext cx="603504" cy="6035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18"/>
          <p:cNvSpPr/>
          <p:nvPr/>
        </p:nvSpPr>
        <p:spPr>
          <a:xfrm>
            <a:off x="8511845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530133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8530133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a análise em ações priorizadas.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Previsões · Recomendações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Revelar o que os dados mostraram — os achados-chave.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padrão ou descoberta importa mais?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que não sabíamos antes?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dado que muda a conversa?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E9F6F4"/>
          </a:solidFill>
          <a:ln w="12700">
            <a:solidFill>
              <a:srgbClr val="0D948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os principais achados da análise. Foque no que é relevante para a decisão, não em todo o relatório.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“70% do churn acontece nos 14 primeiros dias, antes do primeiro valor entregue.”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Previsões · Recomendações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Previsões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para onde os achados apontam no futuro.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se a tendência continuar?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cenários são prováveis?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impacto projetado?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E9F6F4"/>
          </a:solidFill>
          <a:ln w="12700">
            <a:solidFill>
              <a:srgbClr val="0D948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Projete as consequências dos insights. Use cenários, tendências e estimativas para dar peso ao que vem a seguir.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“Mantido o ritmo, perderemos 1 em cada 4 novos clientes — cerca de R$ 200 mil/ano.”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· Previsões · Recomendações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a análise em ações priorizadas.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 primeiro, com base nos dados?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faz, e até quando?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retorno esperado de cada ação?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E9F6F4"/>
          </a:solidFill>
          <a:ln w="12700">
            <a:solidFill>
              <a:srgbClr val="0D948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as ações recomendadas em ordem de prioridade, conectando cada uma diretamente a um insight.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“Criar um onboarding de 14 dias com marcos de valor — meta de cortar o churn inicial pela metade.”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23160"/>
          </a:xfrm>
          <a:prstGeom prst="rect">
            <a:avLst/>
          </a:prstGeom>
          <a:solidFill>
            <a:srgbClr val="FDF3E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804672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37360" y="841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Diagnóstico de causa-raiz até a solução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4813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· Investigação · Solução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 apresentar projetos de melhoria, cases técnicos e qualquer trabalho de causa-raiz. Mostra que a solução não foi um chute — veio de uma investigação séria.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4178808"/>
            <a:ext cx="603504" cy="6035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50976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50976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com clareza a dor e o seu tamanho.</a:t>
            </a:r>
            <a:endParaRPr lang="en-US" sz="12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54" y="4905756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29658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22266" y="4178808"/>
            <a:ext cx="603504" cy="6035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4722266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740554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Investigação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4740554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como você chegou à causa-raiz.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333" y="4905756"/>
            <a:ext cx="292608" cy="29260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219237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511845" y="4178808"/>
            <a:ext cx="603504" cy="6035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3" name="Text 18"/>
          <p:cNvSpPr/>
          <p:nvPr/>
        </p:nvSpPr>
        <p:spPr>
          <a:xfrm>
            <a:off x="8511845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530133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8530133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a solução e o resultado que ela entrega.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· Investigação · 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com clareza a dor e o seu tamanho.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exatamente o problema?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impacto e quem sofre com ele?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é medido hoje?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FDF3E6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Enuncie o problema de forma específica e quantificada. Quanto mais concreto o impacto, mais força a solução terá depois.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“Retrabalho na linha 3 gera 12% de refugo, custando R$ 80 mil por mês.”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· Investigação · 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Investigação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como você chegou à causa-raiz.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método e dados você usou?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hipóteses testou?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análise revelou como causa real?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FDF3E6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 caminho da investigação: dados coletados, análises feitas e a causa-raiz encontrada. Aqui mora a sua credibilidade.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“Análise de Pareto e 5 Porquês apontaram a calibração do equipamento como causa de 80% do refugo.”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· Investigação · 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a solução e o resultado que ela entrega.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resolve a causa-raiz?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resultado esperado ou já obtido?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sustentar o ganho?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FDF3E6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a solução ligada diretamente à causa-raiz e o ganho mensurável. Inclua como o resultado será mantido.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“Plano de calibração semanal reduziu o refugo para 3% — economia de R$ 60 mil/mês.”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23160"/>
          </a:xfrm>
          <a:prstGeom prst="rect">
            <a:avLst/>
          </a:prstGeom>
          <a:solidFill>
            <a:srgbClr val="F2ECF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804672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37360" y="841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ABP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Vender transformação — ideal para VSL e vendas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4813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· Depois · Ponte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 vídeos de vendas, páginas de captura e qualquer momento em que você precise vender uma transformação. Faz o público sentir a dor de hoje, desejar o amanhã e ver o seu método como a ponte.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4178808"/>
            <a:ext cx="603504" cy="6035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50976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50976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Refletir o mundo atual do cliente — a dor de hoje.</a:t>
            </a:r>
            <a:endParaRPr lang="en-US" sz="12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54" y="4905756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29658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22266" y="4178808"/>
            <a:ext cx="603504" cy="6035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3"/>
          <p:cNvSpPr/>
          <p:nvPr/>
        </p:nvSpPr>
        <p:spPr>
          <a:xfrm>
            <a:off x="4722266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740554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4740554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mundo desejado — a vida depois da mudança.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333" y="4905756"/>
            <a:ext cx="292608" cy="29260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219237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511845" y="4178808"/>
            <a:ext cx="603504" cy="6035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18"/>
          <p:cNvSpPr/>
          <p:nvPr/>
        </p:nvSpPr>
        <p:spPr>
          <a:xfrm>
            <a:off x="8511845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530133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Ponte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8530133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seu método como o caminho entre os dois.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ABP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· Depois · Ponte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Refletir o mundo atual do cliente — a dor de hoje.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frustração que ele vive agora?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status quo está custando a ele?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ele se sente travado?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F2ECFE"/>
          </a:solidFill>
          <a:ln w="12700">
            <a:solidFill>
              <a:srgbClr val="7C3AE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Pinte o cenário atual do cliente com empatia. Ele precisa pensar: 'é exatamente assim que eu me sinto'.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“Você se forma, mas no trabalho se sente perdido, entregando menos do que sabe que poderia.”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ABP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· Depois · Ponte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mundo desejado — a vida depois da mudança.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fica a vida quando o problema some?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resultado concreto ele alcança?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se sente nesse novo lugar?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F2ECFE"/>
          </a:solidFill>
          <a:ln w="12700">
            <a:solidFill>
              <a:srgbClr val="7C3AE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o destino: o estado desejado, vívido e concreto. Foque no resultado e na sensação, não nas funcionalidades.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“Imagine entregar projetos que viram referência e ser visto como alguém indispensável no time.”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ABP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· Depois · Ponte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seu método como o caminho entre os dois.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ele sai do Antes e chega ao Depois?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seu método é a ponte?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primeiro passo para atravessar?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F2ECFE"/>
          </a:solidFill>
          <a:ln w="12700">
            <a:solidFill>
              <a:srgbClr val="7C3AE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sua solução, método ou oferta como a ponte única que leva do Antes ao Depois. Termine com a chamada para ação.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Formação Avançada é o passo a passo que leva você do perdido ao protagonista. Comece hoje.”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23160"/>
          </a:xfrm>
          <a:prstGeom prst="rect">
            <a:avLst/>
          </a:prstGeom>
          <a:solidFill>
            <a:srgbClr val="FDECE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66928"/>
            <a:ext cx="868680" cy="868680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804672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548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737360" y="841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Resposta primeiro — para audiências executivas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4813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 · Problema · Explicação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 o público é ocupado e quer a conclusão logo (estilo 'bottom line up front'). Você abre com a resposta, mostra por que ela importa e só então detalha a fundamentação.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2688" y="4178808"/>
            <a:ext cx="603504" cy="6035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50976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50976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direto com a sua resposta ou recomendação.</a:t>
            </a:r>
            <a:endParaRPr lang="en-US" sz="12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754" y="4905756"/>
            <a:ext cx="292608" cy="2926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29658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22266" y="4178808"/>
            <a:ext cx="603504" cy="6035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7" name="Text 13"/>
          <p:cNvSpPr/>
          <p:nvPr/>
        </p:nvSpPr>
        <p:spPr>
          <a:xfrm>
            <a:off x="4722266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740554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4740554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por que essa solução importa agora.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333" y="4905756"/>
            <a:ext cx="292608" cy="29260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219237" y="3886200"/>
            <a:ext cx="333237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511845" y="4178808"/>
            <a:ext cx="603504" cy="6035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3" name="Text 18"/>
          <p:cNvSpPr/>
          <p:nvPr/>
        </p:nvSpPr>
        <p:spPr>
          <a:xfrm>
            <a:off x="8511845" y="4178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530133" y="4910328"/>
            <a:ext cx="27105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Explicação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8530133" y="5367528"/>
            <a:ext cx="27105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Sustentar a solução com dados e lógica.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· Problema · Explicação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Solução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direto com a sua resposta ou recomendação.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conclusão, em uma frase?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está pedindo ou propondo?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recomendação principal?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FDECEF"/>
          </a:solidFill>
          <a:ln w="12700">
            <a:solidFill>
              <a:srgbClr val="E11D4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fim: a recomendação ou decisão que você defende, sem rodeios. A audiência ocupada agradece.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“Recomendo migrar o atendimento para um modelo híbrido ainda neste trimestre.”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· Problema · Explicação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por que essa solução importa agora.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problema a solução resolve?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agir agora e não depois?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custo de não fazer nada?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FDECEF"/>
          </a:solidFill>
          <a:ln w="12700">
            <a:solidFill>
              <a:srgbClr val="E11D4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o problema que torna a solução necessária. Conecte a recomendação a uma dor real e urgente.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tempo de resposta atual está acima de 24h e já derrubou o NPS em 15 pontos.”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· Problema · Explicação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9357055" y="457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de 3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932688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914400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114300" dist="38100" dir="5400000">
              <a:srgbClr val="1620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783080" y="1325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Explicação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Sustentar a solução com dados e lógica.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evidências apoiam a recomendação?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ela funciona na prática?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riscos foram considerados?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5562295" cy="3154680"/>
          </a:xfrm>
          <a:prstGeom prst="roundRect">
            <a:avLst>
              <a:gd name="adj" fmla="val 1739"/>
            </a:avLst>
          </a:prstGeom>
          <a:solidFill>
            <a:srgbClr val="FDECEF"/>
          </a:solidFill>
          <a:ln w="12700">
            <a:solidFill>
              <a:srgbClr val="E11D4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81928" y="1581912"/>
            <a:ext cx="4977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SEU CONTEÚDO AQUI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81928" y="1984248"/>
            <a:ext cx="4977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 a fundamentação: dados, lógica, como a solução opera e por que ela é melhor que as alternativas.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5303520"/>
            <a:ext cx="1032631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6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“Pilotos mostram queda de 60% no tempo de resposta com investimento que se paga em 4 meses.”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usar este kit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passos para sair do slide em branco e chegar a uma apresentação que prende.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1B2747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71576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715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6426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a estrutura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0" y="2514600"/>
            <a:ext cx="5562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slide “Qual estrutura usar?” para casar o framework com o seu objetivo.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593592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1B2747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3794760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794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37216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as perguntas-guia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3593592"/>
            <a:ext cx="5562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 destravam o conteúdo de cada etapa antes de você escrever o slide final.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672584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1B2747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4873752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873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800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a área de conteúdo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60720" y="4672584"/>
            <a:ext cx="5562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o texto do card por um slide (ou bloco) seu para cada etapa.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751576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1B2747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" y="5952744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952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58795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em voz alta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5751576"/>
            <a:ext cx="5562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história faz sentido sem os slides, a estrutura está funcionando.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de Estruturas Narrativas para Apresentações</dc:title>
  <dc:subject>PptxGenJS Presentation</dc:subject>
  <dc:creator>Educação pelo Trabalho</dc:creator>
  <cp:lastModifiedBy>Educação pelo Trabalho</cp:lastModifiedBy>
  <cp:revision>1</cp:revision>
  <dcterms:created xsi:type="dcterms:W3CDTF">2026-06-28T20:57:52Z</dcterms:created>
  <dcterms:modified xsi:type="dcterms:W3CDTF">2026-06-28T20:57:52Z</dcterms:modified>
</cp:coreProperties>
</file>